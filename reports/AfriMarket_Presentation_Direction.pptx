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914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640080"/>
            <a:ext cx="1827698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Analyse Stratégique AfriMarket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4CD964"/>
                </a:solidFill>
                <a:latin typeface="Arial"/>
              </a:rPr>
              <a:t>6 mois d'activité commerciale — Présentation à la Direction Générale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FFFFFF"/>
                </a:solidFill>
                <a:latin typeface="Arial"/>
              </a:rPr>
              <a:t>Direction Data &amp; Analyse —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548640"/>
            <a:ext cx="913849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640080"/>
            <a:ext cx="7315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01   </a:t>
            </a:r>
            <a:r>
              <a:rPr sz="2000">
                <a:solidFill>
                  <a:srgbClr val="1A1A1A"/>
                </a:solidFill>
                <a:latin typeface="Arial"/>
              </a:rPr>
              <a:t>Contexte &amp; objectifs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02   </a:t>
            </a:r>
            <a:r>
              <a:rPr sz="2000">
                <a:solidFill>
                  <a:srgbClr val="1A1A1A"/>
                </a:solidFill>
                <a:latin typeface="Arial"/>
              </a:rPr>
              <a:t>Méthodologie &amp; qualité des données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03   </a:t>
            </a:r>
            <a:r>
              <a:rPr sz="2000">
                <a:solidFill>
                  <a:srgbClr val="1A1A1A"/>
                </a:solidFill>
                <a:latin typeface="Arial"/>
              </a:rPr>
              <a:t>Performance globale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04   </a:t>
            </a:r>
            <a:r>
              <a:rPr sz="2000">
                <a:solidFill>
                  <a:srgbClr val="1A1A1A"/>
                </a:solidFill>
                <a:latin typeface="Arial"/>
              </a:rPr>
              <a:t>Analyse par catégorie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05   </a:t>
            </a:r>
            <a:r>
              <a:rPr sz="2000">
                <a:solidFill>
                  <a:srgbClr val="1A1A1A"/>
                </a:solidFill>
                <a:latin typeface="Arial"/>
              </a:rPr>
              <a:t>Analyse géographique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06   </a:t>
            </a:r>
            <a:r>
              <a:rPr sz="2000">
                <a:solidFill>
                  <a:srgbClr val="1A1A1A"/>
                </a:solidFill>
                <a:latin typeface="Arial"/>
              </a:rPr>
              <a:t>Analyse marketing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07   </a:t>
            </a:r>
            <a:r>
              <a:rPr sz="2000">
                <a:solidFill>
                  <a:srgbClr val="1A1A1A"/>
                </a:solidFill>
                <a:latin typeface="Arial"/>
              </a:rPr>
              <a:t>Analyse clients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08   </a:t>
            </a:r>
            <a:r>
              <a:rPr sz="2000">
                <a:solidFill>
                  <a:srgbClr val="1A1A1A"/>
                </a:solidFill>
                <a:latin typeface="Arial"/>
              </a:rPr>
              <a:t>Recommandations stratégiques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7A3D"/>
                </a:solidFill>
                <a:latin typeface="Arial"/>
              </a:rPr>
              <a:t>09   </a:t>
            </a:r>
            <a:r>
              <a:rPr sz="2000">
                <a:solidFill>
                  <a:srgbClr val="1A1A1A"/>
                </a:solidFill>
                <a:latin typeface="Arial"/>
              </a:rPr>
              <a:t>Plan d'action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Une entreprise en croissance, des signaux à clarifier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Contexte &amp;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5544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Arial"/>
              </a:rPr>
              <a:t>●  AfriMarket est un e-commerce panafricain actif dans 8 villes d'Afrique francophone, sur 4 catégories : Électronique, Mode, Beauté, Maison.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Arial"/>
              </a:rPr>
              <a:t>●  La direction observe des variations de chiffre d'affaires, un taux de retour préoccupant, des dépenses marketing élevées et des écarts de performance entre villes.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10881360" cy="210312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604E"/>
                </a:solidFill>
                <a:latin typeface="Arial"/>
              </a:rPr>
              <a:t>Objectif de l'analyse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Arial"/>
              </a:rPr>
              <a:t>Produire une analyse stratégique complète, fondée sur 6 mois de données commerciales, pour permettre à la direction de prioriser ses décisions : où investir, quoi corriger, et comment améliorer la rentabilité et la fidélisation client.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Des données réelles, avec leurs imperfections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Méthodologie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604E"/>
                </a:solidFill>
                <a:latin typeface="Arial"/>
              </a:rPr>
              <a:t>10 100 commandes brutes auditées → 10 000 commandes propres et fiables (df_clean)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606040" cy="246888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00604E"/>
                </a:solidFill>
                <a:latin typeface="Arial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A3D"/>
                </a:solidFill>
                <a:latin typeface="Arial"/>
              </a:rPr>
              <a:t>commandes dupliquées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Arial"/>
              </a:rPr>
              <a:t>supprimées (id_commande unique)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103120"/>
            <a:ext cx="2606040" cy="246888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240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00604E"/>
                </a:solidFill>
                <a:latin typeface="Arial"/>
              </a:rPr>
              <a:t>632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80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A3D"/>
                </a:solidFill>
                <a:latin typeface="Arial"/>
              </a:rPr>
              <a:t>prix unitaires négatifs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3375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Arial"/>
              </a:rPr>
              <a:t>≈97% figés à -50 (code d'erreur) → imputés par la médiane du produit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03120"/>
            <a:ext cx="2606040" cy="246888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240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00604E"/>
                </a:solidFill>
                <a:latin typeface="Arial"/>
              </a:rPr>
              <a:t>608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80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A3D"/>
                </a:solidFill>
                <a:latin typeface="Arial"/>
              </a:rPr>
              <a:t>quantités nulles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375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Arial"/>
              </a:rPr>
              <a:t>incohérentes business → imputées par la médiane de la catégorie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103120"/>
            <a:ext cx="2606040" cy="246888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240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00604E"/>
                </a:solidFill>
                <a:latin typeface="Arial"/>
              </a:rPr>
              <a:t>614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80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A3D"/>
                </a:solidFill>
                <a:latin typeface="Arial"/>
              </a:rPr>
              <a:t>remises négatives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3375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Arial"/>
              </a:rPr>
              <a:t>constante -0.10 (inversion de signe) → valeur absolue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Arial"/>
              </a:rPr>
              <a:t>●  Incohérences orthographiques et de casse harmonisées (villes, catégories, statuts).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Arial"/>
              </a:rPr>
              <a:t>●  Hypothèse documentée : marge brute = 45% du CA (coût de revient non fourni dans les données).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PERFORMANCE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Une activité saine, un signal de qualité à traiter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Performance globale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737360"/>
            <a:ext cx="1810512" cy="19202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8105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2 670 519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627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CD964"/>
                </a:solidFill>
                <a:latin typeface="Arial"/>
              </a:rPr>
              <a:t>Chiffre d'affaires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2304" y="1737360"/>
            <a:ext cx="1810512" cy="19202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965960"/>
            <a:ext cx="18105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1 070 207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834640"/>
            <a:ext cx="1627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CD964"/>
                </a:solidFill>
                <a:latin typeface="Arial"/>
              </a:rPr>
              <a:t>Profit net estimé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737360"/>
            <a:ext cx="1810512" cy="19202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965960"/>
            <a:ext cx="18105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272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834640"/>
            <a:ext cx="1627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CD964"/>
                </a:solidFill>
                <a:latin typeface="Arial"/>
              </a:rPr>
              <a:t>Panier moyen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737360"/>
            <a:ext cx="1810512" cy="19202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965960"/>
            <a:ext cx="18105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1.9%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834640"/>
            <a:ext cx="1627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CD964"/>
                </a:solidFill>
                <a:latin typeface="Arial"/>
              </a:rPr>
              <a:t>Taux d'annulation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737360"/>
            <a:ext cx="1810512" cy="19202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965960"/>
            <a:ext cx="18105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8.2%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834640"/>
            <a:ext cx="1627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CD964"/>
                </a:solidFill>
                <a:latin typeface="Arial"/>
              </a:rPr>
              <a:t>Taux de retour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737360"/>
            <a:ext cx="1810512" cy="19202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965960"/>
            <a:ext cx="18105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1 772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834640"/>
            <a:ext cx="1627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CD964"/>
                </a:solidFill>
                <a:latin typeface="Arial"/>
              </a:rPr>
              <a:t>Clients actifs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L'activité est globalement saine : le taux d'annulation reste très faible (1,9%).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Le taux de retour (8,2%) mérite attention : il est très concentré sur une seule catégorie (voir slide suivante).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ANALYSE PAR CATÉGORIE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Électronique : le moteur économique d'AfriMarket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Analyse par catégorie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pic>
        <p:nvPicPr>
          <p:cNvPr id="9" name="Picture 8" descr="ca_par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639234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Électronique génère 75% du chiffre d'affaires total.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Elle porte l'essentiel du profit net (854 215 sur 1 070 207 au global).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C'est la catégorie à prioriser en stock, visibilité et négociation fournisseur.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ANALYSE PAR CATÉGORIE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Un taux de retour à traiter en priorité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Analyse par catégorie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pic>
        <p:nvPicPr>
          <p:cNvPr id="9" name="Picture 8" descr="taux_retour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611776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Électronique affiche un taux de retour de 13.9%, 2 à 5 fois supérieur aux autres catégories.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Chaque point de retour y coûte proportionnellement plus cher (logistique inverse, remboursement, image).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Un plan qualité ciblé (contrôle fournisseur, fiches produit, politique de retour) est nécessaire.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ANALYSE GÉOGRAPHIQUE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Kinshasa : la ville la plus performante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Analyse géographique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pic>
        <p:nvPicPr>
          <p:cNvPr id="9" name="Picture 8" descr="ca_par_v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311343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Kinshasa combine le meilleur CA (810 104) et un taux d'annulation quasi nul (0.3%).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C'est la ville à privilégier pour un investissement additionnel (stock, marketing local).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ANALYSE GÉOGRAPHIQUE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Douala : un signal opérationnel à investiguer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Analyse géographique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pic>
        <p:nvPicPr>
          <p:cNvPr id="9" name="Picture 8" descr="taux_annulation_v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311343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Douala affiche un taux d'annulation de 12.8%, contre quasiment 0% dans les autres villes.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●  Ce signal localisé (paiement, logistique, expérience client) doit être diagnostiqué avant tout investissement marketing supplémentaire dans cette ville.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ANALYSE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Un budget à rééquilibrer vers l'efficacité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Analyse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pic>
        <p:nvPicPr>
          <p:cNvPr id="9" name="Picture 8" descr="roi_ca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453658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●  Email affiche le meilleur ROI (x226) pour un coût marginal très faible.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●  Instagram Ads capte le budget le plus élevé mais un ROI modeste (x24) : le plus gros gisement d'optimisation en valeur absolue.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●  Influenceur affiche le ROI le plus faible en proportion (x21), sur un budget plus restreint.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●  Recommandation : réallouer progressivement le budget vers les canaux les plus efficaces (test A/B).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Arial"/>
              </a:rPr>
              <a:t>ROI = (CA − coût marketing) / coût marketing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ANALYSE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Une base fidèle, mais concentrée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Analyse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pic>
        <p:nvPicPr>
          <p:cNvPr id="9" name="Picture 8" descr="pareto_cl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397931" cy="3840480"/>
          </a:xfrm>
          <a:prstGeom prst="rect">
            <a:avLst/>
          </a:prstGeom>
        </p:spPr>
      </p:pic>
      <p:pic>
        <p:nvPicPr>
          <p:cNvPr id="10" name="Picture 9" descr="segmentation_cl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554480"/>
            <a:ext cx="4515556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3949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Arial"/>
              </a:rPr>
              <a:t>76% des 1 772 clients actifs sont récurrents, et les 20% les plus rentables génèrent 64.5% du CA total.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5 recommandations stratégiques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00200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Sécuriser Électronique (75% du CA) tout en lançant un plan qualité pour réduire son taux de retour.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8"/>
            <a:ext cx="640080" cy="64008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3288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32888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Investir davantage à Kinshasa ; auditer Douala avant tout budget supplémentaire.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65576"/>
            <a:ext cx="640080" cy="64008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65576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Réallouer une partie du budget Instagram Ads (x24) vers Email (x226) ; revoir aussi Influenceur, dont le ROI (x21) est le plus faible en proportion.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98264"/>
            <a:ext cx="640080" cy="64008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9826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98264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Lancer un programme de fidélisation dédié aux clients VIP pour sécuriser leur rente.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30952"/>
            <a:ext cx="640080" cy="64008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3095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330952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Mettre en place une relance automatisée pour les clients occasionnels (une seule commande).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Recommandations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PLAN D'ACTION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Une feuille de route en 3 horizons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Plan d'action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645920"/>
            <a:ext cx="3520440" cy="5486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520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0-30 jours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3520440" cy="329184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>
                <a:solidFill>
                  <a:srgbClr val="1A1A1A"/>
                </a:solidFill>
                <a:latin typeface="Arial"/>
              </a:rPr>
              <a:t>●  Audit opérationnel de Douala (coût faible, risque élevé à ne rien faire)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1A1A1A"/>
                </a:solidFill>
                <a:latin typeface="Arial"/>
              </a:rPr>
              <a:t>●  Test A/B de réallocation budget Instagram →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520440" cy="5486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3520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30-90 jours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286000"/>
            <a:ext cx="3520440" cy="329184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>
                <a:solidFill>
                  <a:srgbClr val="1A1A1A"/>
                </a:solidFill>
                <a:latin typeface="Arial"/>
              </a:rPr>
              <a:t>●  Lancement du programme de fidélisation VIP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1A1A1A"/>
                </a:solidFill>
                <a:latin typeface="Arial"/>
              </a:rPr>
              <a:t>●  Séquence de relance des clients occasionnels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520440" cy="5486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645920"/>
            <a:ext cx="3520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2-3 trimestres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3520440" cy="329184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>
                <a:solidFill>
                  <a:srgbClr val="1A1A1A"/>
                </a:solidFill>
                <a:latin typeface="Arial"/>
              </a:rPr>
              <a:t>●  Plan qualité Électronique (fournisseurs, fiches produit, retours)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1A1A1A"/>
                </a:solidFill>
                <a:latin typeface="Arial"/>
              </a:rPr>
              <a:t>●  Renforcement de l'investissement à Kinshasa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D964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Une performance rentable, mais concentrée et donc fragile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73107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6419088"/>
            <a:ext cx="319847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645920"/>
            <a:ext cx="10881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Arial"/>
              </a:rPr>
              <a:t>AfriMarket dispose d'un modèle rentable et d'une base client majoritairement fidèle. Mais sa performance repose sur des équilibres fragiles : une catégorie (Électronique) porte l'essentiel du chiffre d'affaires, une ville (Douala) présente une anomalie opérationnelle non expliquée, et un canal marketing (Instagram Ads) absorbe un budget disproportionné à son efficacité réelle.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Arial"/>
              </a:rPr>
              <a:t>Les prochaines 90 jours doivent prioriser les actions à fort impact et faible coût — audit Douala, réallocation budgétaire, programme VIP — avant d'engager les chantiers plus structurants.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0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463040"/>
            <a:ext cx="1644928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38328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4CD964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